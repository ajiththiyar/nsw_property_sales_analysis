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93C5FD"/>
                </a:solidFill>
                <a:latin typeface="Arial"/>
              </a:defRPr>
            </a:pPr>
            <a:r>
              <a:t>NSW PROPERTY MARKET ANALYTICS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From Business Requirements to Solution</a:t>
            </a:r>
          </a:p>
          <a:p>
            <a:pPr>
              <a:defRPr sz="1600">
                <a:solidFill>
                  <a:srgbClr val="E2E8F0"/>
                </a:solidFill>
                <a:latin typeface="Arial"/>
              </a:defRPr>
            </a:pPr>
            <a:r>
              <a:t>A Data-Driven Framework for Profit-Maximizing Real Estate Acquisition in New South Wales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3035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1. BUSINESS CONTEXT &amp; STRATEGY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Client Goal: Maximizing Capital Growth &amp; Value Entry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INVESTOR OBJECTIVES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Capital Growth Target: </a:t>
            </a:r>
            <a:r>
              <a:rPr sz="1300">
                <a:solidFill>
                  <a:srgbClr val="64748B"/>
                </a:solidFill>
              </a:rPr>
              <a:t>Identify postcodes exhibiting compound annual growth exceeding NSW state averages.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Value Entry Threshold: </a:t>
            </a:r>
            <a:r>
              <a:rPr sz="1300">
                <a:solidFill>
                  <a:srgbClr val="64748B"/>
                </a:solidFill>
              </a:rPr>
              <a:t>Acquire land/assets below average price per square metre ($/sqm) before market repricing.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Infrastructure Alignment: </a:t>
            </a:r>
            <a:r>
              <a:rPr sz="1300">
                <a:solidFill>
                  <a:srgbClr val="64748B"/>
                </a:solidFill>
              </a:rPr>
              <a:t>Capitalize on major infrastructure catalysts like Western Sydney Airport (Badgerys Creek).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Yield Optimization: </a:t>
            </a:r>
            <a:r>
              <a:rPr sz="1300">
                <a:solidFill>
                  <a:srgbClr val="64748B"/>
                </a:solidFill>
              </a:rPr>
              <a:t>Incorporate high-yield asset types (e.g., parking) to hedge holding cash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3855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MARKET &amp; DATA CHALLENGES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Data Noise (~1.5M Rows): </a:t>
            </a:r>
            <a:r>
              <a:rPr sz="1300">
                <a:solidFill>
                  <a:srgbClr val="64748B"/>
                </a:solidFill>
              </a:rPr>
              <a:t>Raw transaction files contain non-arm's length sales, nulls, and severe price outliers.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Opaque Spatial Boundaries: </a:t>
            </a:r>
            <a:r>
              <a:rPr sz="1300">
                <a:solidFill>
                  <a:srgbClr val="64748B"/>
                </a:solidFill>
              </a:rPr>
              <a:t>Lack of precise geocoding obscures true distance to growth corridors.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Unstructured Descriptions: </a:t>
            </a:r>
            <a:r>
              <a:rPr sz="1300">
                <a:solidFill>
                  <a:srgbClr val="64748B"/>
                </a:solidFill>
              </a:rPr>
              <a:t>Inconsistent property categories hinder automated $/sqm valuations.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Static Reporting Limits: </a:t>
            </a:r>
            <a:r>
              <a:rPr sz="1300">
                <a:solidFill>
                  <a:srgbClr val="64748B"/>
                </a:solidFill>
              </a:rPr>
              <a:t>Traditional static reports fail to highlight dynamic 2x2 opportunity quadrants.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2. REQUIREMENT SPECIFICATION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Business Requirements for Data-Driven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FR-01: Data Ingestion &amp; Hygiene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Tech Stack: Python Pandas ETL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Automate cleaning of ~1.508M transaction records, removing non-arm's length transfers and extreme outliers.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FR-02: Relational Warehouse Engine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Tech Stack: Azure SQL Edge (Docker)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Establish structured relational database executing high-performance T-SQL queries for price/sqm &amp; LGA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FR-03: Spatial Geocoding Integration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Tech Stack: Australia G-NAF Data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Link address strings with official G-NAF spatial coordinates to enable precise distance mapping to growth hubs.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8135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FR-04: Interactive Executive Visualizer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Tech Stack: Tableau Dashboard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Build 2x2 Opportunity Quadrants and spatial heatmaps with postcode drill-down capabilities for rapid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3. SOLUTION ARCHITECTURE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Four-Stage Data Pipeline Transforms Raw Data into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23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1. INGESTION</a:t>
            </a:r>
          </a:p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Python Pandas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Clean raw CSVs</a:t>
            </a:r>
            <a:br/>
            <a:r>
              <a:t>Filter outlier noise</a:t>
            </a:r>
            <a:br/>
            <a:r>
              <a:t>Standardize fields</a:t>
            </a:r>
          </a:p>
        </p:txBody>
      </p:sp>
      <p:sp>
        <p:nvSpPr>
          <p:cNvPr id="5" name="Chevron 4"/>
          <p:cNvSpPr/>
          <p:nvPr/>
        </p:nvSpPr>
        <p:spPr>
          <a:xfrm>
            <a:off x="3227832" y="3657600"/>
            <a:ext cx="182880" cy="36576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23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2. WAREHOUSE</a:t>
            </a:r>
          </a:p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Azure SQL Edge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Relational schema</a:t>
            </a:r>
            <a:br/>
            <a:r>
              <a:t>T-SQL aggregates</a:t>
            </a:r>
            <a:br/>
            <a:r>
              <a:t>LGA &amp; $/sqm metrics</a:t>
            </a:r>
          </a:p>
        </p:txBody>
      </p:sp>
      <p:sp>
        <p:nvSpPr>
          <p:cNvPr id="8" name="Chevron 7"/>
          <p:cNvSpPr/>
          <p:nvPr/>
        </p:nvSpPr>
        <p:spPr>
          <a:xfrm>
            <a:off x="5971032" y="3657600"/>
            <a:ext cx="182880" cy="36576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23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3. GEOCODING</a:t>
            </a:r>
          </a:p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G-NAF Spatial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Match addresses</a:t>
            </a:r>
            <a:br/>
            <a:r>
              <a:t>Extract lat/long</a:t>
            </a:r>
            <a:br/>
            <a:r>
              <a:t>Spatial indexing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8714232" y="3657600"/>
            <a:ext cx="182880" cy="36576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423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286000"/>
            <a:ext cx="2057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4. DASHBOARD</a:t>
            </a:r>
          </a:p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Tableau Visuals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2x2 Quadrants</a:t>
            </a:r>
            <a:br/>
            <a:r>
              <a:t>Spatial heatmaps</a:t>
            </a:r>
            <a:br/>
            <a:r>
              <a:t>Postcode drill-down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4. ANALYTICS ENGINE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Tableau Quadrant Matrix Isolates High-Growth, Affordable Targets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QUADRANT 1: TARGET ZONE ⭐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High Growth, Below-Average $/sqm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Suburbs showing growth above state median with purchase prices below average. Primary allocation area for value 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QUADRANT 2: PREMIUM GROWTH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High Growth, Above-Average $/sqm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High performing premium suburbs. Solid growth trajectory but higher capital entry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QUADRANT 3: VALUE TRAPS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Low Growth, Below-Average $/sqm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Inexpensive postcodes lacking growth momentum. Exercise caution unless redevelopment plays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8135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QUADRANT 4: SATURATED PREMIUM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Low Growth, Above-Average $/sqm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Expensive postcodes with flat compound growth. Minimal short-term upside for profit investors.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5. ACTIONABLE ROADMAP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Four Strategic Recommendations to Maximize Capital Return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1. Target Quadrant 1 Exclusively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Focus initial deployment on Quadrant 1 postcodes combining above-average historical growth with entry $/sqm below NSW average.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8135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2. Western Sydney Infrastructure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Acquire land/assets in postcodes adjacent to Western Sydney Airport (Badgerys Creek corridor) prior to full infrastructure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3. Cash-Flow Niche Allocations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Integrate commercial parking spaces into portfolio. SQL analysis shows car spaces yield superior price per sqm income to offset land holding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8135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4. Multi-LGA Portfolio Hedging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Distribute allocations across diverse Council LGAs to balance high-growth infrastructure zones with stable, high-median income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